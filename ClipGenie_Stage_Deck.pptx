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594360"/>
            <a:ext cx="10817352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914400"/>
            <a:ext cx="9875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4F46E5"/>
                </a:solidFill>
                <a:latin typeface="Calibri"/>
              </a:rPr>
              <a:t>CLIPGENIE STUDIO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4600" b="1">
                <a:solidFill>
                  <a:srgbClr val="0F172A"/>
                </a:solidFill>
                <a:latin typeface="Calibri"/>
              </a:rPr>
              <a:t>From Passive Video Watching
to Active Mastery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Calibri"/>
              </a:rPr>
              <a:t>Smart Concept Video Clipper  +  Socratic Active-Recall Studio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4389120"/>
            <a:ext cx="3429000" cy="196596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2540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45720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01 • ISOLATE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0F172A"/>
                </a:solidFill>
                <a:latin typeface="Calibri"/>
              </a:rPr>
              <a:t>Smart Video Clipper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Extracts focused concept clips from long lectures.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4389120"/>
            <a:ext cx="3429000" cy="196596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45720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02 • DIAGNOSE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0F172A"/>
                </a:solidFill>
                <a:latin typeface="Calibri"/>
              </a:rPr>
              <a:t>Zero-Spoiler Feedback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Finds gaps in your explanation without giving the answer.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4152" y="4389120"/>
            <a:ext cx="3429000" cy="196596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4" y="45720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03 • VERIFY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0F172A"/>
                </a:solidFill>
                <a:latin typeface="Calibri"/>
              </a:rPr>
              <a:t>Cold Transfer Check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Proves mastery on a brand-new real-world scenario.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11480"/>
            <a:ext cx="2377440" cy="347472"/>
          </a:xfrm>
          <a:prstGeom prst="roundRect">
            <a:avLst>
              <a:gd name="adj" fmla="val 40000"/>
            </a:avLst>
          </a:prstGeom>
          <a:solidFill>
            <a:srgbClr val="EEF2FF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01 •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4114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ClipGenie  •  02 /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Calibri"/>
              </a:rPr>
              <a:t>Watching a Lecture ≠ Knowing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Students spend hours watching videos but struggle to explain or apply concepts later.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3429000" cy="3429000"/>
          </a:xfrm>
          <a:prstGeom prst="roundRect">
            <a:avLst>
              <a:gd name="adj" fmla="val 4000"/>
            </a:avLst>
          </a:prstGeom>
          <a:solidFill>
            <a:srgbClr val="FFF1F2"/>
          </a:solidFill>
          <a:ln w="25400">
            <a:solidFill>
              <a:srgbClr val="FDA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880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400" b="1">
                <a:solidFill>
                  <a:srgbClr val="E11D48"/>
                </a:solidFill>
                <a:latin typeface="Calibri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300" b="1">
                <a:solidFill>
                  <a:srgbClr val="0F172A"/>
                </a:solidFill>
                <a:latin typeface="Calibri"/>
              </a:rPr>
              <a:t>Passive Binge-Watching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334155"/>
                </a:solidFill>
                <a:latin typeface="Calibri"/>
              </a:rPr>
              <a:t>Watching at 2x speed feels productive, but requires zero mental reconstruction.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2103120"/>
            <a:ext cx="3429000" cy="34290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331720"/>
            <a:ext cx="2880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400" b="1">
                <a:solidFill>
                  <a:srgbClr val="D97706"/>
                </a:solidFill>
                <a:latin typeface="Calibri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300" b="1">
                <a:solidFill>
                  <a:srgbClr val="0F172A"/>
                </a:solidFill>
                <a:latin typeface="Calibri"/>
              </a:rPr>
              <a:t>Illusion of Competence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334155"/>
                </a:solidFill>
                <a:latin typeface="Calibri"/>
              </a:rPr>
              <a:t>Following an instructor's smooth explanation tricks the brain into thinking 'I know this.'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2103120"/>
            <a:ext cx="3429000" cy="34290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2540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80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400" b="1">
                <a:solidFill>
                  <a:srgbClr val="4F46E5"/>
                </a:solidFill>
                <a:latin typeface="Calibri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300" b="1">
                <a:solidFill>
                  <a:srgbClr val="0F172A"/>
                </a:solidFill>
                <a:latin typeface="Calibri"/>
              </a:rPr>
              <a:t>Unstructured Timelines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334155"/>
                </a:solidFill>
                <a:latin typeface="Calibri"/>
              </a:rPr>
              <a:t>Core ideas are buried inside 60-minute videos or split across distant timestamps.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806440"/>
            <a:ext cx="10817352" cy="658368"/>
          </a:xfrm>
          <a:prstGeom prst="roundRect">
            <a:avLst>
              <a:gd name="adj" fmla="val 15000"/>
            </a:avLst>
          </a:prstGeom>
          <a:solidFill>
            <a:srgbClr val="FFF1F2"/>
          </a:solidFill>
          <a:ln w="19050">
            <a:solidFill>
              <a:srgbClr val="FDA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92531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11D48"/>
                </a:solidFill>
                <a:latin typeface="Calibri"/>
              </a:rPr>
              <a:t>Result: High confidence while watching the video — blank page during the exam.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11480"/>
            <a:ext cx="2377440" cy="347472"/>
          </a:xfrm>
          <a:prstGeom prst="roundRect">
            <a:avLst>
              <a:gd name="adj" fmla="val 40000"/>
            </a:avLst>
          </a:prstGeom>
          <a:solidFill>
            <a:srgbClr val="EEF2FF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02 • RESEARCH &amp; BRAIN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4114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ClipGenie  •  03 /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Calibri"/>
              </a:rPr>
              <a:t>How AI Overuse Hurts Metacognition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Relying on direct-answer AI erodes self-monitoring and unassisted performance.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3429000" cy="3429000"/>
          </a:xfrm>
          <a:prstGeom prst="roundRect">
            <a:avLst>
              <a:gd name="adj" fmla="val 4000"/>
            </a:avLst>
          </a:prstGeom>
          <a:solidFill>
            <a:srgbClr val="FFF1F2"/>
          </a:solidFill>
          <a:ln w="25400">
            <a:solidFill>
              <a:srgbClr val="FDA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880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E11D48"/>
                </a:solidFill>
                <a:latin typeface="Calibri"/>
              </a:rPr>
              <a:t>-24%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1">
                <a:solidFill>
                  <a:srgbClr val="0F172A"/>
                </a:solidFill>
                <a:latin typeface="Calibri"/>
              </a:rPr>
              <a:t>Unassisted Exam Drop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Students using direct-answer AI score 17%–24% lower when tested solo (Wharton / MIT).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2103120"/>
            <a:ext cx="3429000" cy="34290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331720"/>
            <a:ext cx="2880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D97706"/>
                </a:solidFill>
                <a:latin typeface="Calibri"/>
              </a:rPr>
              <a:t>68%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1">
                <a:solidFill>
                  <a:srgbClr val="0F172A"/>
                </a:solidFill>
                <a:latin typeface="Calibri"/>
              </a:rPr>
              <a:t>Cognitive Offloading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Learners use AI to summarize or get answers instead of recalling concepts themselves.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2103120"/>
            <a:ext cx="3429000" cy="34290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2540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80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4F46E5"/>
                </a:solidFill>
                <a:latin typeface="Calibri"/>
              </a:rPr>
              <a:t>70%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1">
                <a:solidFill>
                  <a:srgbClr val="0F172A"/>
                </a:solidFill>
                <a:latin typeface="Calibri"/>
              </a:rPr>
              <a:t>Lost Within 24 Hours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New video material forgotten in one day without active retrieval (Forgetting Curve).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806440"/>
            <a:ext cx="10817352" cy="658368"/>
          </a:xfrm>
          <a:prstGeom prst="roundRect">
            <a:avLst>
              <a:gd name="adj" fmla="val 15000"/>
            </a:avLst>
          </a:prstGeom>
          <a:solidFill>
            <a:srgbClr val="EEF2FF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92531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Metacognitive Laziness: When AI gives the answer immediately, the brain stops checking its own understanding.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11480"/>
            <a:ext cx="2377440" cy="347472"/>
          </a:xfrm>
          <a:prstGeom prst="roundRect">
            <a:avLst>
              <a:gd name="adj" fmla="val 40000"/>
            </a:avLst>
          </a:prstGeom>
          <a:solidFill>
            <a:srgbClr val="EEF2FF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03 • WHY CLIPGENIE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4114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ClipGenie  •  04 /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Calibri"/>
              </a:rPr>
              <a:t>Flipping the Role of AI in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AI should coach your thinking, not do the thinking for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5212080" cy="3429000"/>
          </a:xfrm>
          <a:prstGeom prst="roundRect">
            <a:avLst>
              <a:gd name="adj" fmla="val 4000"/>
            </a:avLst>
          </a:prstGeom>
          <a:solidFill>
            <a:srgbClr val="FFF1F2"/>
          </a:solidFill>
          <a:ln w="25400">
            <a:solidFill>
              <a:srgbClr val="FDA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37744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11D48"/>
                </a:solidFill>
                <a:latin typeface="Calibri"/>
              </a:rPr>
              <a:t>STANDARD AI TOOLS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AI Explains the Video to You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✕  Hands over instant summaries &amp; answers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✕  Bypasses mental effort &amp; recall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✕  Hides conceptual blind spots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103120"/>
            <a:ext cx="5212080" cy="342900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11112" y="237744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CLIPGENIE STUDIO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You Explain the Video to the AI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✓  Isolates 45–90s concept clips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✓  Diagnoses what is missing (zero spoilers)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✓  Verifies transfer to new problems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806440"/>
            <a:ext cx="10817352" cy="658368"/>
          </a:xfrm>
          <a:prstGeom prst="roundRect">
            <a:avLst>
              <a:gd name="adj" fmla="val 15000"/>
            </a:avLst>
          </a:prstGeom>
          <a:solidFill>
            <a:srgbClr val="ECFDF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92531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59669"/>
                </a:solidFill>
                <a:latin typeface="Calibri"/>
              </a:rPr>
              <a:t>Core Rule: ClipGenie never spoils the answer — it guides you back to the video to close your own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11480"/>
            <a:ext cx="2377440" cy="347472"/>
          </a:xfrm>
          <a:prstGeom prst="roundRect">
            <a:avLst>
              <a:gd name="adj" fmla="val 40000"/>
            </a:avLst>
          </a:prstGeom>
          <a:solidFill>
            <a:srgbClr val="EEF2FF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04 • PRODUCT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4114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ClipGenie  •  05 /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Calibri"/>
              </a:rPr>
              <a:t>How ClipGenie Works: 4-Step Active Recall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Plus a Smart Video Clipper (/app) for topic-based highlight reels.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2542032" cy="34290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2540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STEP 1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500" b="1">
                <a:solidFill>
                  <a:srgbClr val="0F172A"/>
                </a:solidFill>
                <a:latin typeface="Calibri"/>
              </a:rPr>
              <a:t>Watch Clip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334155"/>
                </a:solidFill>
                <a:latin typeface="Calibri"/>
              </a:rPr>
              <a:t>Play a focused 45–90s concept chapter.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8" y="2103120"/>
            <a:ext cx="2542032" cy="34290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4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06"/>
                </a:solidFill>
                <a:latin typeface="Calibri"/>
              </a:rPr>
              <a:t>STEP 2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500" b="1">
                <a:solidFill>
                  <a:srgbClr val="0F172A"/>
                </a:solidFill>
                <a:latin typeface="Calibri"/>
              </a:rPr>
              <a:t>Explain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334155"/>
                </a:solidFill>
                <a:latin typeface="Calibri"/>
              </a:rPr>
              <a:t>Write what you understood from memory.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2103120"/>
            <a:ext cx="2542032" cy="3429000"/>
          </a:xfrm>
          <a:prstGeom prst="roundRect">
            <a:avLst>
              <a:gd name="adj" fmla="val 4000"/>
            </a:avLst>
          </a:prstGeom>
          <a:solidFill>
            <a:srgbClr val="FFF1F2"/>
          </a:solidFill>
          <a:ln w="25400">
            <a:solidFill>
              <a:srgbClr val="FDA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E11D48"/>
                </a:solidFill>
                <a:latin typeface="Calibri"/>
              </a:rPr>
              <a:t>STEP 3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500" b="1">
                <a:solidFill>
                  <a:srgbClr val="0F172A"/>
                </a:solidFill>
                <a:latin typeface="Calibri"/>
              </a:rPr>
              <a:t>Close Gap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334155"/>
                </a:solidFill>
                <a:latin typeface="Calibri"/>
              </a:rPr>
              <a:t>Use Socratic hint &amp; replay clip (+Delta).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0264" y="2103120"/>
            <a:ext cx="2542032" cy="342900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STEP 4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500" b="1">
                <a:solidFill>
                  <a:srgbClr val="0F172A"/>
                </a:solidFill>
                <a:latin typeface="Calibri"/>
              </a:rPr>
              <a:t>Transfer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334155"/>
                </a:solidFill>
                <a:latin typeface="Calibri"/>
              </a:rPr>
              <a:t>Solve a brand-new scenario without hints.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806440"/>
            <a:ext cx="10817352" cy="658368"/>
          </a:xfrm>
          <a:prstGeom prst="roundRect">
            <a:avLst>
              <a:gd name="adj" fmla="val 15000"/>
            </a:avLst>
          </a:prstGeom>
          <a:solidFill>
            <a:srgbClr val="EEF2FF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92531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Dual Workspace: Smart Topic Clipper (/app)  +  Interactive 4-Step Practice Studio (/practice)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11480"/>
            <a:ext cx="2377440" cy="347472"/>
          </a:xfrm>
          <a:prstGeom prst="roundRect">
            <a:avLst>
              <a:gd name="adj" fmla="val 40000"/>
            </a:avLst>
          </a:prstGeom>
          <a:solidFill>
            <a:srgbClr val="EEF2FF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05 • DIFFERENTIATION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4114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ClipGenie  •  06 /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Calibri"/>
              </a:rPr>
              <a:t>How ClipGenie Differs from Existing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Built for long-term human retention rather than shortcut task completion.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057400"/>
          <a:ext cx="10817352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651760"/>
                <a:gridCol w="2834640"/>
                <a:gridCol w="3136392"/>
              </a:tblGrid>
              <a:tr h="5867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YouTube / Video LMS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ChatGPT / Summarizers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ClipGenie Studio</a:t>
                      </a:r>
                    </a:p>
                  </a:txBody>
                  <a:tcPr anchor="ctr">
                    <a:solidFill>
                      <a:srgbClr val="059669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0F172A"/>
                          </a:solidFill>
                          <a:latin typeface="Calibri"/>
                        </a:rPr>
                        <a:t>Primary Role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Passive Video Player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Direct Answer Generator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059669"/>
                          </a:solidFill>
                          <a:latin typeface="Calibri"/>
                        </a:rPr>
                        <a:t>Socratic Recall Coach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0F172A"/>
                          </a:solidFill>
                          <a:latin typeface="Calibri"/>
                        </a:rPr>
                        <a:t>Spoiler Policy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Not Applicable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Reveals Full Answer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059669"/>
                          </a:solidFill>
                          <a:latin typeface="Calibri"/>
                        </a:rPr>
                        <a:t>Zero Spoilers (Hints Only)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0F172A"/>
                          </a:solidFill>
                          <a:latin typeface="Calibri"/>
                        </a:rPr>
                        <a:t>Video Grounding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Manual Scrubbing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Detached Text Summary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059669"/>
                          </a:solidFill>
                          <a:latin typeface="Calibri"/>
                        </a:rPr>
                        <a:t>Locked to Exact Timestamps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0F172A"/>
                          </a:solidFill>
                          <a:latin typeface="Calibri"/>
                        </a:rPr>
                        <a:t>Metacognition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Illusion of Competence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Cognitive Offloading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059669"/>
                          </a:solidFill>
                          <a:latin typeface="Calibri"/>
                        </a:rPr>
                        <a:t>Active Self-Correction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0F172A"/>
                          </a:solidFill>
                          <a:latin typeface="Calibri"/>
                        </a:rPr>
                        <a:t>Proof of Mastery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'Watched' Checkmark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059669"/>
                          </a:solidFill>
                          <a:latin typeface="Calibri"/>
                        </a:rPr>
                        <a:t>Retry +Delta &amp; Transfer Check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85800" y="5806440"/>
            <a:ext cx="10817352" cy="658368"/>
          </a:xfrm>
          <a:prstGeom prst="roundRect">
            <a:avLst>
              <a:gd name="adj" fmla="val 15000"/>
            </a:avLst>
          </a:prstGeom>
          <a:solidFill>
            <a:srgbClr val="ECFDF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92531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59669"/>
                </a:solidFill>
                <a:latin typeface="Calibri"/>
              </a:rPr>
              <a:t>ChatGPT finishes your homework fast; ClipGenie makes sure you can pass the exam without AI.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11480"/>
            <a:ext cx="2377440" cy="347472"/>
          </a:xfrm>
          <a:prstGeom prst="roundRect">
            <a:avLst>
              <a:gd name="adj" fmla="val 40000"/>
            </a:avLst>
          </a:prstGeom>
          <a:solidFill>
            <a:srgbClr val="EEF2FF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06 • SYSTEM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4114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ClipGenie  •  07 /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Calibri"/>
              </a:rPr>
              <a:t>How It Works Under the Hood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Clean 4-stage pipeline turning any video file or link into an active study session.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2542032" cy="34290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2540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STAGE 1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300" b="1">
                <a:solidFill>
                  <a:srgbClr val="0F172A"/>
                </a:solidFill>
                <a:latin typeface="Calibri"/>
              </a:rPr>
              <a:t>Media Ingestion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Video upload or web link → compact mono audio stream.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8" y="2103120"/>
            <a:ext cx="2542032" cy="34290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4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06"/>
                </a:solidFill>
                <a:latin typeface="Calibri"/>
              </a:rPr>
              <a:t>STAGE 2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300" b="1">
                <a:solidFill>
                  <a:srgbClr val="0F172A"/>
                </a:solidFill>
                <a:latin typeface="Calibri"/>
              </a:rPr>
              <a:t>Speech &amp; Sentences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Time-aligned transcript → complete merged sentences.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2103120"/>
            <a:ext cx="2542032" cy="3429000"/>
          </a:xfrm>
          <a:prstGeom prst="roundRect">
            <a:avLst>
              <a:gd name="adj" fmla="val 4000"/>
            </a:avLst>
          </a:prstGeom>
          <a:solidFill>
            <a:srgbClr val="FFF1F2"/>
          </a:solidFill>
          <a:ln w="25400">
            <a:solidFill>
              <a:srgbClr val="FDA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E11D48"/>
                </a:solidFill>
                <a:latin typeface="Calibri"/>
              </a:rPr>
              <a:t>STAGE 3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300" b="1">
                <a:solidFill>
                  <a:srgbClr val="0F172A"/>
                </a:solidFill>
                <a:latin typeface="Calibri"/>
              </a:rPr>
              <a:t>Concept Chapters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Extracts 4–5 core concepts, timestamps &amp; rubrics.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0264" y="2103120"/>
            <a:ext cx="2542032" cy="342900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STAGE 4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300" b="1">
                <a:solidFill>
                  <a:srgbClr val="0F172A"/>
                </a:solidFill>
                <a:latin typeface="Calibri"/>
              </a:rPr>
              <a:t>Diagnostic Engine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Grades student explanation &amp; guides gap closure.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806440"/>
            <a:ext cx="10817352" cy="658368"/>
          </a:xfrm>
          <a:prstGeom prst="roundRect">
            <a:avLst>
              <a:gd name="adj" fmla="val 15000"/>
            </a:avLst>
          </a:prstGeom>
          <a:solidFill>
            <a:srgbClr val="EEF2FF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92531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Hybrid Cloud + Local Fallback: Works dynamically on any new video with offline resilience.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11480"/>
            <a:ext cx="2377440" cy="347472"/>
          </a:xfrm>
          <a:prstGeom prst="roundRect">
            <a:avLst>
              <a:gd name="adj" fmla="val 40000"/>
            </a:avLst>
          </a:prstGeom>
          <a:solidFill>
            <a:srgbClr val="EEF2FF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07 • 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4114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ClipGenie  •  08 /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Calibri"/>
              </a:rPr>
              <a:t>Where ClipGenie Goes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Scaling from an individual study studio to classroom-wide active learning.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2542032" cy="34290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2540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01 • VOICE VIVA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1">
                <a:solidFill>
                  <a:srgbClr val="0F172A"/>
                </a:solidFill>
                <a:latin typeface="Calibri"/>
              </a:rPr>
              <a:t>Spoken Practice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Explain concepts out loud via microphone.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8" y="2103120"/>
            <a:ext cx="2542032" cy="34290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4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02 • SPACED REVIEW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1">
                <a:solidFill>
                  <a:srgbClr val="0F172A"/>
                </a:solidFill>
                <a:latin typeface="Calibri"/>
              </a:rPr>
              <a:t>1–3–7 Day Queue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Auto-schedules weak video clips to beat forgetting.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2103120"/>
            <a:ext cx="2542032" cy="3429000"/>
          </a:xfrm>
          <a:prstGeom prst="roundRect">
            <a:avLst>
              <a:gd name="adj" fmla="val 4000"/>
            </a:avLst>
          </a:prstGeom>
          <a:solidFill>
            <a:srgbClr val="FFF1F2"/>
          </a:solidFill>
          <a:ln w="25400">
            <a:solidFill>
              <a:srgbClr val="FDA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E11D48"/>
                </a:solidFill>
                <a:latin typeface="Calibri"/>
              </a:rPr>
              <a:t>03 • LMS HEATMAPS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1">
                <a:solidFill>
                  <a:srgbClr val="0F172A"/>
                </a:solidFill>
                <a:latin typeface="Calibri"/>
              </a:rPr>
              <a:t>Teacher Analytics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Shows which 45s clip confused the class most.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0264" y="2103120"/>
            <a:ext cx="2542032" cy="342900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04 • MULTILINGUAL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1">
                <a:solidFill>
                  <a:srgbClr val="0F172A"/>
                </a:solidFill>
                <a:latin typeface="Calibri"/>
              </a:rPr>
              <a:t>Cross-Lingual Mode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Watch in English, explain in Urdu or local language.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806440"/>
            <a:ext cx="10817352" cy="658368"/>
          </a:xfrm>
          <a:prstGeom prst="roundRect">
            <a:avLst>
              <a:gd name="adj" fmla="val 15000"/>
            </a:avLst>
          </a:prstGeom>
          <a:solidFill>
            <a:srgbClr val="EEF2FF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92531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Vision: Turn every educational video into an interactive, Socratic tutor.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11480"/>
            <a:ext cx="2377440" cy="347472"/>
          </a:xfrm>
          <a:prstGeom prst="roundRect">
            <a:avLst>
              <a:gd name="adj" fmla="val 40000"/>
            </a:avLst>
          </a:prstGeom>
          <a:solidFill>
            <a:srgbClr val="EEF2FF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08 •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4114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ClipGenie  •  09 /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Calibri"/>
              </a:rPr>
              <a:t>Live Demonstration Walkthrough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Seeing ClipGenie in action on real video lectures.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3429000" cy="34290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2540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2880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DEMO 1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500" b="1">
                <a:solidFill>
                  <a:srgbClr val="0F172A"/>
                </a:solidFill>
                <a:latin typeface="Calibri"/>
              </a:rPr>
              <a:t>Load &amp; Watch Clip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Switch or import a lecture &amp; play a clamped chapter.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2103120"/>
            <a:ext cx="3429000" cy="34290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377440"/>
            <a:ext cx="2880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D97706"/>
                </a:solidFill>
                <a:latin typeface="Calibri"/>
              </a:rPr>
              <a:t>DEMO 2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500" b="1">
                <a:solidFill>
                  <a:srgbClr val="0F172A"/>
                </a:solidFill>
                <a:latin typeface="Calibri"/>
              </a:rPr>
              <a:t>Explain &amp; Diagnose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Write an explanation &amp; see zero-spoiler gap feedback.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2103120"/>
            <a:ext cx="3429000" cy="342900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2377440"/>
            <a:ext cx="2880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59669"/>
                </a:solidFill>
                <a:latin typeface="Calibri"/>
              </a:rPr>
              <a:t>DEMO 3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500" b="1">
                <a:solidFill>
                  <a:srgbClr val="0F172A"/>
                </a:solidFill>
                <a:latin typeface="Calibri"/>
              </a:rPr>
              <a:t>Retry &amp; Transfer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Close the gap (+Delta) &amp; pass the Cold Transfer Check.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806440"/>
            <a:ext cx="10817352" cy="658368"/>
          </a:xfrm>
          <a:prstGeom prst="roundRect">
            <a:avLst>
              <a:gd name="adj" fmla="val 15000"/>
            </a:avLst>
          </a:prstGeom>
          <a:solidFill>
            <a:srgbClr val="ECFDF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92531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59669"/>
                </a:solidFill>
                <a:latin typeface="Calibri"/>
              </a:rPr>
              <a:t>"Don't just watch it. Explain it, close the gap, and prove you know it."   •  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