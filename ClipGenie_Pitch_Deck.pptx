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84FC"/>
                </a:solidFill>
              </a:defRPr>
            </a:pPr>
            <a:r>
              <a:t>PRODUCT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ClipGenie: Turning Passive Video Watching Into Active Mastery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</a:defRPr>
            </a:pPr>
            <a:r>
              <a:t>Watching a lecture feels productive, but passive viewing rarely builds lasting memory.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C084FC"/>
                </a:solidFill>
              </a:defRPr>
            </a:pPr>
            <a:r>
              <a:t>1. Smart Concept Clipper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Extracts focused, complete-sentence highlight clips from long lectures based on any topic prompt.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BBF24"/>
                </a:solidFill>
              </a:defRPr>
            </a:pPr>
            <a:r>
              <a:t>2. Socratic Gap Diagnosis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Tests what the learner remembers, points out what is missing, and never spoils the final answer.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6EE7B7"/>
                </a:solidFill>
              </a:defRPr>
            </a:pPr>
            <a:r>
              <a:t>3. Cold Transfer Verification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Confirms real mastery by asking the learner to apply the concept to a brand-new real-world scenario.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84FC"/>
                </a:solidFill>
              </a:defRPr>
            </a:pPr>
            <a:r>
              <a:t>01 • THE CORE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Illusion of Competence in Video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</a:defRPr>
            </a:pPr>
            <a:r>
              <a:t>Students watch hours of lectures at 2x speed and nod along—mistaking familiarity for actual understanding.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B7185"/>
                </a:solidFill>
              </a:defRPr>
            </a:pPr>
            <a:r>
              <a:t>Passive Consumption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Students watch 60-minute videos without ever pausing to reconstruct the explanation in their own words.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C084FC"/>
                </a:solidFill>
              </a:defRPr>
            </a:pPr>
            <a:r>
              <a:t>Unstructured Timelines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Key concepts are buried inside long intros and tangents, or split across multiple timestamps minutes apart.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BBF24"/>
                </a:solidFill>
              </a:defRPr>
            </a:pPr>
            <a:r>
              <a:t>Shortcut Culture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When stuck, students ask chatbots for instant summaries or answers—skipping the mental effort required to learn.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84FC"/>
                </a:solidFill>
              </a:defRPr>
            </a:pPr>
            <a:r>
              <a:t>02 • RESEARCH &amp; METACOGNITION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AI Overuse Hurts Metacognition &amp; 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</a:defRPr>
            </a:pPr>
            <a:r>
              <a:t>Metacognition is the ability to monitor what you actually know versus what only looks familiar.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B7185"/>
                </a:solidFill>
              </a:defRPr>
            </a:pPr>
            <a:r>
              <a:t>-17% to -24% Exam Drop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Empirical studies (Wharton/MIT, 2024) show students using direct-answer AI finish faster but score 17–24% lower on unassisted exams.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BBF24"/>
                </a:solidFill>
              </a:defRPr>
            </a:pPr>
            <a:r>
              <a:t>68% Cognitive Offloading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Over two-thirds of learners use AI to summarize or get direct answers instead of practicing active recall ('Metacognitive Laziness').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C084FC"/>
                </a:solidFill>
              </a:defRPr>
            </a:pPr>
            <a:r>
              <a:t>~70% Lost in 24 Hours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Without active retrieval practice shortly after watching a lecture, ~70% of new material is forgotten within one 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84FC"/>
                </a:solidFill>
              </a:defRPr>
            </a:pPr>
            <a:r>
              <a:t>03 • WHY CLIPGENIE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ClipGenie: AI That Coaches Instead of Spoiling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</a:defRPr>
            </a:pPr>
            <a:r>
              <a:t>Instead of summarizing the video for the student, the student must explain the video to ClipGenie.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C084FC"/>
                </a:solidFill>
              </a:defRPr>
            </a:pPr>
            <a:r>
              <a:t>Restores Self-Monitoring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Writing a 2–4 sentence explanation from memory immediately exposes hidden gaps in understanding.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6EE7B7"/>
                </a:solidFill>
              </a:defRPr>
            </a:pPr>
            <a:r>
              <a:t>Zero-Spoiler Gap Feedback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Separates feedback into What You Got Right and What Is Missing, paired with a guiding question back to the video.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BBF24"/>
                </a:solidFill>
              </a:defRPr>
            </a:pPr>
            <a:r>
              <a:t>Eliminates Scrubbing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Automatically segments long lectures into 45–90 second conceptual clips and links multi-part callbacks.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84FC"/>
                </a:solidFill>
              </a:defRPr>
            </a:pPr>
            <a:r>
              <a:t>04 • PRODUCT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4-Step Active Recall Loop + Smart Video Clipper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</a:defRPr>
            </a:pPr>
            <a:r>
              <a:t>Every uploaded video or pasted link is converted into an interactive mastery loop.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C084FC"/>
                </a:solidFill>
              </a:defRPr>
            </a:pPr>
            <a:r>
              <a:t>Step 1 &amp; Step 2: Watch &amp; Explain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Watch a focused 45–90s concept segment, then explain the core principle from memory for gap diagnosis.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BBF24"/>
                </a:solidFill>
              </a:defRPr>
            </a:pPr>
            <a:r>
              <a:t>Step 3: Review &amp; Retry (+Delta)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Re-watch the exact timestamp using the Socratic hint and submit an improved explanation to close the gap.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6EE7B7"/>
                </a:solidFill>
              </a:defRPr>
            </a:pPr>
            <a:r>
              <a:t>Step 4: Cold Transfer Check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Solve an unscaffolded, real-world scenario applying the same principle to prove genuine comprehension.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84FC"/>
                </a:solidFill>
              </a:defRPr>
            </a:pPr>
            <a:r>
              <a:t>05 •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ClipGenie Differs from ChatGPT &amp; Existing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</a:defRPr>
            </a:pPr>
            <a:r>
              <a:t>General chatbots complete tasks for the user; ClipGenie builds independent capability in the learner.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B7185"/>
                </a:solidFill>
              </a:defRPr>
            </a:pPr>
            <a:r>
              <a:t>Video Platforms (YouTube / LMS)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Passive one-way playback; manual timeline scrubbing; creates illusion of competence with no comprehension check.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BBF24"/>
                </a:solidFill>
              </a:defRPr>
            </a:pPr>
            <a:r>
              <a:t>ChatGPT &amp; AI Summarizers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Hands over direct answers and summaries immediately; encourages cognitive offloading and dependency.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6EE7B7"/>
                </a:solidFill>
              </a:defRPr>
            </a:pPr>
            <a:r>
              <a:t>ClipGenie Studio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Frame-locked to the lecture segment; diagnoses missing concepts without spoilers; verifies cold real-world transfer.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84FC"/>
                </a:solidFill>
              </a:defRPr>
            </a:pPr>
            <a:r>
              <a:t>06 •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the System Works Under the Hood (Surface Overview)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</a:defRPr>
            </a:pPr>
            <a:r>
              <a:t>A modular 4-stage pipeline turning raw video streams into interactive study sessions.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C084FC"/>
                </a:solidFill>
              </a:defRPr>
            </a:pPr>
            <a:r>
              <a:t>1. Media &amp; Speech Pipeline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Ingests local videos or web links, extracts normalized mono audio, and transcribes speech with timestamps.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BBF24"/>
                </a:solidFill>
              </a:defRPr>
            </a:pPr>
            <a:r>
              <a:t>2. Sentence &amp; Concept Engine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Merges phrase fragments into full sentences and segments the talk into conceptual chapters and rubrics.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6EE7B7"/>
                </a:solidFill>
              </a:defRPr>
            </a:pPr>
            <a:r>
              <a:t>3. Diagnostic &amp; Guardrail Layer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Evaluates student explanations against the segment rubric, blocks answer leaks, and tracks mastery in the database.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84FC"/>
                </a:solidFill>
              </a:defRPr>
            </a:pPr>
            <a:r>
              <a:t>07 • GUARDRAILS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Anti-Shortcut Guardrail &amp; Independence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</a:defRPr>
            </a:pPr>
            <a:r>
              <a:t>Engineered to handle shortcut attempts and vague guesses accurately.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B7185"/>
                </a:solidFill>
              </a:defRPr>
            </a:pPr>
            <a:r>
              <a:t>Blocks Answer Requests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If a student types 'Just tell me the answer', the guardrail intercepts it, holds the score at 10%, and gives zero spoilers.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BBF24"/>
                </a:solidFill>
              </a:defRPr>
            </a:pPr>
            <a:r>
              <a:t>Strict Rubric Matching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Vague guesses like 'AI is helpful' receive no false credit for analogies or arguments the student didn't write.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6EE7B7"/>
                </a:solidFill>
              </a:defRPr>
            </a:pPr>
            <a:r>
              <a:t>Independence Analytics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Tracks First-Attempt Independence Rate alongside Hint-Assisted Mastery across every lecture.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84FC"/>
                </a:solidFill>
              </a:defRPr>
            </a:pPr>
            <a:r>
              <a:t>08 •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Future Roadmap &amp;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</a:defRPr>
            </a:pPr>
            <a:r>
              <a:t>Scaling from a personal study studio to classroom-wide active learning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C084FC"/>
                </a:solidFill>
              </a:defRPr>
            </a:pPr>
            <a:r>
              <a:t>Voice Socratic Practice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Let students explain concepts out loud via microphone right after a clip pauses.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BBF24"/>
                </a:solidFill>
              </a:defRPr>
            </a:pPr>
            <a:r>
              <a:t>Spaced-Repetition Clips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Automatically re-quiz students on their weakest 60-second video segments at 1, 3, and 7 days.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6EE7B7"/>
                </a:solidFill>
              </a:defRPr>
            </a:pPr>
            <a:r>
              <a:t>Instructor Heatmaps &amp; LMS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Show teachers which exact 45-second segment of a lecture confused the most students across a class.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84FC"/>
                </a:solidFill>
              </a:defRPr>
            </a:pPr>
            <a:r>
              <a:t>09 • 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Live Demo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</a:defRPr>
            </a:pPr>
            <a:r>
              <a:t>Don't just watch it. Explain it, close the gap, and prove you know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C084FC"/>
                </a:solidFill>
              </a:defRPr>
            </a:pPr>
            <a:r>
              <a:t>1. Dynamic Lecture Load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Select or import a lecture and lock onto a focused concept chapter in the video player.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BBF24"/>
                </a:solidFill>
              </a:defRPr>
            </a:pPr>
            <a:r>
              <a:t>2. Gap Diagnosis &amp; Guardrail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Test a vague answer or shortcut attempt and see non-spoiler diagnostic feedback in real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2240280"/>
            <a:ext cx="3429000" cy="3840480"/>
          </a:xfrm>
          <a:prstGeom prst="roundRect">
            <a:avLst/>
          </a:prstGeom>
          <a:solidFill>
            <a:srgbClr val="160D30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25146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6EE7B7"/>
                </a:solidFill>
              </a:defRPr>
            </a:pPr>
            <a:r>
              <a:t>3. Retry &amp; Transfer Mastery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Close the gap on Attempt 2 and pass the Step 4 Transfer Challenge.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