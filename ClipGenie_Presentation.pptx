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502920"/>
            <a:ext cx="11000232" cy="3246120"/>
          </a:xfrm>
          <a:prstGeom prst="roundRect">
            <a:avLst>
              <a:gd name="adj" fmla="val 2000"/>
            </a:avLst>
          </a:prstGeom>
          <a:solidFill>
            <a:srgbClr val="18103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49808"/>
            <a:ext cx="774551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0200" y="841248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CLIPGENIE  •  ACTIVE-RECALL VIDEO LEARNING &amp; SMART CONCEPT CLIPPER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Turning Passive Video Watching Into Verified Understanding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1F5F9"/>
                </a:solidFill>
                <a:latin typeface="Calibri"/>
              </a:rPr>
              <a:t>Watching a lecture feels productive, but passive viewing creates an illusion of competence. ClipGenie isolates key concept segments from long lectures and guides learners through active explanation, gap detection, and real-world transfer—without ever spoiling the answer.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950208"/>
            <a:ext cx="3520440" cy="2542032"/>
          </a:xfrm>
          <a:prstGeom prst="roundRect">
            <a:avLst>
              <a:gd name="adj" fmla="val 3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096512"/>
            <a:ext cx="31181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PILLAR 01 • SMART VIDEO CLIPPER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Topic-Driven Highlight Extraction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C084FC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Focused Clips: </a:t>
            </a:r>
            <a:r>
              <a:rPr sz="1200" b="0">
                <a:solidFill>
                  <a:srgbClr val="F1F5F9"/>
                </a:solidFill>
                <a:latin typeface="Calibri"/>
              </a:rPr>
              <a:t>Extracts complete spoken sentences matching any topic prompt.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C084FC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Zero Mid-Word Cuts: </a:t>
            </a:r>
            <a:r>
              <a:rPr sz="1200" b="0">
                <a:solidFill>
                  <a:srgbClr val="F1F5F9"/>
                </a:solidFill>
                <a:latin typeface="Calibri"/>
              </a:rPr>
              <a:t>Reconstructs natural sentence boundaries before slicing video.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C084FC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Any Video Source: </a:t>
            </a:r>
            <a:r>
              <a:rPr sz="1200" b="0">
                <a:solidFill>
                  <a:srgbClr val="F1F5F9"/>
                </a:solidFill>
                <a:latin typeface="Calibri"/>
              </a:rPr>
              <a:t>Works with uploaded lecture files or pasted web video links.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3950208"/>
            <a:ext cx="3520440" cy="2542032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4096512"/>
            <a:ext cx="31181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PILLAR 02 • SOCRATIC DIAGNOSTIC LOOP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Gap Feedback Without Spoilers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Explain From Memory: </a:t>
            </a:r>
            <a:r>
              <a:rPr sz="1200" b="0">
                <a:solidFill>
                  <a:srgbClr val="F1F5F9"/>
                </a:solidFill>
                <a:latin typeface="Calibri"/>
              </a:rPr>
              <a:t>Students answer open-ended questions grounded in the clip.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Pinpoints Blind Spots: </a:t>
            </a:r>
            <a:r>
              <a:rPr sz="1200" b="0">
                <a:solidFill>
                  <a:srgbClr val="F1F5F9"/>
                </a:solidFill>
                <a:latin typeface="Calibri"/>
              </a:rPr>
              <a:t>Separates What You Got Right from What Is Missing.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Never Spoils Answers: </a:t>
            </a:r>
            <a:r>
              <a:rPr sz="1200" b="0">
                <a:solidFill>
                  <a:srgbClr val="F1F5F9"/>
                </a:solidFill>
                <a:latin typeface="Calibri"/>
              </a:rPr>
              <a:t>Guides learners back to the video timestamp to self-correct.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3950208"/>
            <a:ext cx="3520440" cy="2542032"/>
          </a:xfrm>
          <a:prstGeom prst="roundRect">
            <a:avLst>
              <a:gd name="adj" fmla="val 3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4096512"/>
            <a:ext cx="31181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PILLAR 03 • COLD TRANSFER CHECK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Proving Genuine Comprehension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Beyond Memorization: </a:t>
            </a:r>
            <a:r>
              <a:rPr sz="1200" b="0">
                <a:solidFill>
                  <a:srgbClr val="F1F5F9"/>
                </a:solidFill>
                <a:latin typeface="Calibri"/>
              </a:rPr>
              <a:t>Tests whether the student can apply the rule to a new scenario.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Unscaffolded Evaluation: </a:t>
            </a:r>
            <a:r>
              <a:rPr sz="1200" b="0">
                <a:solidFill>
                  <a:srgbClr val="F1F5F9"/>
                </a:solidFill>
                <a:latin typeface="Calibri"/>
              </a:rPr>
              <a:t>No hints or training wheels during final verification.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Independence Tracking: </a:t>
            </a:r>
            <a:r>
              <a:rPr sz="1200" b="0">
                <a:solidFill>
                  <a:srgbClr val="F1F5F9"/>
                </a:solidFill>
                <a:latin typeface="Calibri"/>
              </a:rPr>
              <a:t>Measures first-attempt mastery vs. hint-assisted progress.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01 •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Illusion of Competence in Modern Video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Video is the primary medium for online education, but passive viewing fails to build retrievable knowledge.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5349240" cy="4096512"/>
          </a:xfrm>
          <a:prstGeom prst="roundRect">
            <a:avLst>
              <a:gd name="adj" fmla="val 3000"/>
            </a:avLst>
          </a:prstGeom>
          <a:solidFill>
            <a:srgbClr val="380E1E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0512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B7185"/>
                </a:solidFill>
                <a:latin typeface="Calibri"/>
              </a:rPr>
              <a:t>HOW STUDENTS CONSUME LECTURES TODAY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Why Passive Watching Feels Easy But Fails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>
                <a:solidFill>
                  <a:srgbClr val="FB7185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2x Speed Binge-Watching: </a:t>
            </a:r>
            <a:r>
              <a:rPr sz="1350" b="0">
                <a:solidFill>
                  <a:srgbClr val="F1F5F9"/>
                </a:solidFill>
                <a:latin typeface="Calibri"/>
              </a:rPr>
              <a:t>Students watch hour-long lectures continuously, nodding along as the instructor explains concepts smoothly.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>
                <a:solidFill>
                  <a:srgbClr val="FB7185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Mistaking Recognition for Recall: </a:t>
            </a:r>
            <a:r>
              <a:rPr sz="1350" b="0">
                <a:solidFill>
                  <a:srgbClr val="F1F5F9"/>
                </a:solidFill>
                <a:latin typeface="Calibri"/>
              </a:rPr>
              <a:t>Following someone else's logic creates visual familiarity ('I get this'), which the brain confuses with independent mastery.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>
                <a:solidFill>
                  <a:srgbClr val="FB7185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Zero Active Reconstruction: </a:t>
            </a:r>
            <a:r>
              <a:rPr sz="1350" b="0">
                <a:solidFill>
                  <a:srgbClr val="F1F5F9"/>
                </a:solidFill>
                <a:latin typeface="Calibri"/>
              </a:rPr>
              <a:t>The video never pauses to require the learner to articulate the principle in their own words from memory.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50" b="1">
                <a:solidFill>
                  <a:srgbClr val="FB7185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Exam &amp; Interview Blank-Outs: </a:t>
            </a:r>
            <a:r>
              <a:rPr sz="1350" b="0">
                <a:solidFill>
                  <a:srgbClr val="F1F5F9"/>
                </a:solidFill>
                <a:latin typeface="Calibri"/>
              </a:rPr>
              <a:t>When tested days later without the video in front of them, learners cannot reproduce or apply the core argument.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664208"/>
            <a:ext cx="5349240" cy="4096512"/>
          </a:xfrm>
          <a:prstGeom prst="roundRect">
            <a:avLst>
              <a:gd name="adj" fmla="val 3000"/>
            </a:avLst>
          </a:prstGeom>
          <a:solidFill>
            <a:srgbClr val="18103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10512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084FC"/>
                </a:solidFill>
                <a:latin typeface="Calibri"/>
              </a:rPr>
              <a:t>STRUCTURAL FLAWS IN CURRENT TOOLS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Unstructured Timelines &amp; Instant Shortcuts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>
                <a:solidFill>
                  <a:srgbClr val="C084FC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Buried Core Concepts: </a:t>
            </a:r>
            <a:r>
              <a:rPr sz="1350" b="0">
                <a:solidFill>
                  <a:srgbClr val="F1F5F9"/>
                </a:solidFill>
                <a:latin typeface="Calibri"/>
              </a:rPr>
              <a:t>A 60-minute lecture mixes 8 minutes of essential theory with 52 minutes of intros, anecdotes, and tangents.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>
                <a:solidFill>
                  <a:srgbClr val="C084FC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Scattered Multi-Part Callbacks: </a:t>
            </a:r>
            <a:r>
              <a:rPr sz="1350" b="0">
                <a:solidFill>
                  <a:srgbClr val="F1F5F9"/>
                </a:solidFill>
                <a:latin typeface="Calibri"/>
              </a:rPr>
              <a:t>A speaker introduces a framework at 02:00 and gives the critical caveat at 18:30—manual scrubbing misses the link.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>
                <a:solidFill>
                  <a:srgbClr val="C084FC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One-Way Broadcast Medium: </a:t>
            </a:r>
            <a:r>
              <a:rPr sz="1350" b="0">
                <a:solidFill>
                  <a:srgbClr val="F1F5F9"/>
                </a:solidFill>
                <a:latin typeface="Calibri"/>
              </a:rPr>
              <a:t>Standard video players only stream pixels; they cannot diagnose whether a student misunderstood a premise.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50" b="1">
                <a:solidFill>
                  <a:srgbClr val="C084FC"/>
                </a:solidFill>
                <a:latin typeface="Calibri"/>
              </a:rPr>
              <a:t>▸ </a:t>
            </a:r>
            <a:r>
              <a:rPr sz="1350" b="1">
                <a:solidFill>
                  <a:srgbClr val="FFFFFF"/>
                </a:solidFill>
                <a:latin typeface="Calibri"/>
              </a:rPr>
              <a:t>Chatbot Shortcut Culture: </a:t>
            </a:r>
            <a:r>
              <a:rPr sz="1350" b="0">
                <a:solidFill>
                  <a:srgbClr val="F1F5F9"/>
                </a:solidFill>
                <a:latin typeface="Calibri"/>
              </a:rPr>
              <a:t>When students get stuck, they paste transcripts into chatbots for instant summaries—skipping mental effort entirely.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380E1E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B7185"/>
                </a:solidFill>
                <a:latin typeface="Calibri"/>
              </a:rPr>
              <a:t>CORE PROBLEM:  </a:t>
            </a:r>
            <a:r>
              <a:rPr sz="1300" b="0">
                <a:solidFill>
                  <a:srgbClr val="FFFFFF"/>
                </a:solidFill>
                <a:latin typeface="Calibri"/>
              </a:rPr>
              <a:t>Passive video watching builds short-term recognition, while standard AI summarizers outsource the thinking needed for retention.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02 • RESEARCH &amp; COGNITIVE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AI Overuse Erodes Metacognition &amp; Long-Term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Metacognition is the ability to monitor what you truly know vs. what only looks familiar. Direct-answer AI weakens this calibration.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3520440" cy="2423160"/>
          </a:xfrm>
          <a:prstGeom prst="roundRect">
            <a:avLst>
              <a:gd name="adj" fmla="val 3000"/>
            </a:avLst>
          </a:prstGeom>
          <a:solidFill>
            <a:srgbClr val="380E1E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73936"/>
            <a:ext cx="311810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B7185"/>
                </a:solidFill>
                <a:latin typeface="Calibri"/>
              </a:rPr>
              <a:t>-17% to -24%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Calibri"/>
              </a:rPr>
              <a:t>Drop in Unassisted Exam Scores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1F5F9"/>
                </a:solidFill>
                <a:latin typeface="Calibri"/>
              </a:rPr>
              <a:t>Controlled studies (Wharton / MIT / Darvishi et al., 2024) show students using direct-answer AI finish homework 48% faster, but score 17%–24% lower when tested without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64208"/>
            <a:ext cx="3520440" cy="2423160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773936"/>
            <a:ext cx="311810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BBF24"/>
                </a:solidFill>
                <a:latin typeface="Calibri"/>
              </a:rPr>
              <a:t>68%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Calibri"/>
              </a:rPr>
              <a:t>Learners Offloading Recall to AI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1F5F9"/>
                </a:solidFill>
                <a:latin typeface="Calibri"/>
              </a:rPr>
              <a:t>Over two-thirds of students use AI to summarize lectures or generate direct answers rather than testing themselves—a phenomenon researchers call 'Metacognitive Laziness'.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64208"/>
            <a:ext cx="3520440" cy="2423160"/>
          </a:xfrm>
          <a:prstGeom prst="roundRect">
            <a:avLst>
              <a:gd name="adj" fmla="val 3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73936"/>
            <a:ext cx="311810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C084FC"/>
                </a:solidFill>
                <a:latin typeface="Calibri"/>
              </a:rPr>
              <a:t>~70%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Calibri"/>
              </a:rPr>
              <a:t>Forgotten Within 24 Hours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1F5F9"/>
                </a:solidFill>
                <a:latin typeface="Calibri"/>
              </a:rPr>
              <a:t>Per the Ebbinghaus Forgetting Curve and Roediger &amp; Karpicke's retrieval studies, ~70% of passive lecture content is forgotten in 24 hours without active recall practice.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251960"/>
            <a:ext cx="11000232" cy="1554480"/>
          </a:xfrm>
          <a:prstGeom prst="roundRect">
            <a:avLst>
              <a:gd name="adj" fmla="val 2000"/>
            </a:avLst>
          </a:prstGeom>
          <a:solidFill>
            <a:srgbClr val="181034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52544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WHY OVERUSING DIRECT-ANSWER AI HARMS METACOGNITION: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Calibri"/>
              </a:rPr>
              <a:t>▸ </a:t>
            </a:r>
            <a:r>
              <a:rPr sz="1300" b="1">
                <a:solidFill>
                  <a:srgbClr val="FFFFFF"/>
                </a:solidFill>
                <a:latin typeface="Calibri"/>
              </a:rPr>
              <a:t>1. Breaks Self-Monitoring: </a:t>
            </a:r>
            <a:r>
              <a:rPr sz="1300" b="0">
                <a:solidFill>
                  <a:srgbClr val="F1F5F9"/>
                </a:solidFill>
                <a:latin typeface="Calibri"/>
              </a:rPr>
              <a:t>When an AI immediately hands over a polished summary or answer, the student reads it and thinks 'That makes sense'—never discovering their own blind spots.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Calibri"/>
              </a:rPr>
              <a:t>▸ </a:t>
            </a:r>
            <a:r>
              <a:rPr sz="1300" b="1">
                <a:solidFill>
                  <a:srgbClr val="FFFFFF"/>
                </a:solidFill>
                <a:latin typeface="Calibri"/>
              </a:rPr>
              <a:t>2. Eliminates Desirable Difficulty: </a:t>
            </a:r>
            <a:r>
              <a:rPr sz="1300" b="0">
                <a:solidFill>
                  <a:srgbClr val="F1F5F9"/>
                </a:solidFill>
                <a:latin typeface="Calibri"/>
              </a:rPr>
              <a:t>Memory consolidation requires the effortful struggle of retrieving an idea from memory and organizing it into sentences.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38BDF8"/>
                </a:solidFill>
                <a:latin typeface="Calibri"/>
              </a:rPr>
              <a:t>▸ </a:t>
            </a:r>
            <a:r>
              <a:rPr sz="1300" b="1">
                <a:solidFill>
                  <a:srgbClr val="FFFFFF"/>
                </a:solidFill>
                <a:latin typeface="Calibri"/>
              </a:rPr>
              <a:t>3. Creates Prompt Dependency: </a:t>
            </a:r>
            <a:r>
              <a:rPr sz="1300" b="0">
                <a:solidFill>
                  <a:srgbClr val="F1F5F9"/>
                </a:solidFill>
                <a:latin typeface="Calibri"/>
              </a:rPr>
              <a:t>Learners become dependent on external hints and cannot transfer the underlying principle to unfamiliar problems.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KEY INSIGHT:  </a:t>
            </a:r>
            <a:r>
              <a:rPr sz="1300" b="0">
                <a:solidFill>
                  <a:srgbClr val="FFFFFF"/>
                </a:solidFill>
                <a:latin typeface="Calibri"/>
              </a:rPr>
              <a:t>AI helps students only when it demands cognitive effort—acting as a Socratic coach rather than an answer vending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03 • WHY CLIPGENIE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ClipGenie: Flipping AI from Answer Generator to Socratic 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Instead of the AI explaining the video to the student, the student must explain the video to ClipGenie.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18103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" y="1792224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01 • CALIBRATES METACOGNITION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Exposes Hidden Blind Spots Immediately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C084FC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Memory-First Prompting: </a:t>
            </a:r>
            <a:r>
              <a:rPr sz="1250" b="0">
                <a:solidFill>
                  <a:srgbClr val="F1F5F9"/>
                </a:solidFill>
                <a:latin typeface="Calibri"/>
              </a:rPr>
              <a:t>Right after a 60-second concept clip finishes, the student must explain the core idea in 2–4 sentences.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C084FC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Truth Mirror: </a:t>
            </a:r>
            <a:r>
              <a:rPr sz="1250" b="0">
                <a:solidFill>
                  <a:srgbClr val="F1F5F9"/>
                </a:solidFill>
                <a:latin typeface="Calibri"/>
              </a:rPr>
              <a:t>Trying to write an explanation from scratch immediately reveals what the student actually understood vs. what only sounded familiar.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664208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792224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02 • DIAGNOSTIC GAP FEEDBACK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Points Out What's Missing—Zero Spoilers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Structured Evaluation: </a:t>
            </a:r>
            <a:r>
              <a:rPr sz="1250" b="0">
                <a:solidFill>
                  <a:srgbClr val="F1F5F9"/>
                </a:solidFill>
                <a:latin typeface="Calibri"/>
              </a:rPr>
              <a:t>Breaks feedback into What You Got Right and What Is Missing against the lecture's key points.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Strict Non-Spoiler Rule: </a:t>
            </a:r>
            <a:r>
              <a:rPr sz="1250" b="0">
                <a:solidFill>
                  <a:srgbClr val="F1F5F9"/>
                </a:solidFill>
                <a:latin typeface="Calibri"/>
              </a:rPr>
              <a:t>Never gives away a sample answer; provides a Socratic guiding question pointing back to the video.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822191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0C26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950207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Calibri"/>
              </a:rPr>
              <a:t>03 • SMART CONCEPT CHAPTERING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Ends Timeline Scrubbing Fatigue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45–90s Concept Clips: </a:t>
            </a:r>
            <a:r>
              <a:rPr sz="1250" b="0">
                <a:solidFill>
                  <a:srgbClr val="F1F5F9"/>
                </a:solidFill>
                <a:latin typeface="Calibri"/>
              </a:rPr>
              <a:t>Automatically slices long lectures into digestible chapters locked to exact start and end timestamps.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Multi-Part Callbacks: </a:t>
            </a:r>
            <a:r>
              <a:rPr sz="1250" b="0">
                <a:solidFill>
                  <a:srgbClr val="F1F5F9"/>
                </a:solidFill>
                <a:latin typeface="Calibri"/>
              </a:rPr>
              <a:t>Links early introductions of a concept with later real-world examples across the lecture.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822191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3950207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04 • VERIFIED KNOWLEDGE TRANSFER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Tests Application, Not Parroting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FBBF24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Iterative Retry (+Delta): </a:t>
            </a:r>
            <a:r>
              <a:rPr sz="1250" b="0">
                <a:solidFill>
                  <a:srgbClr val="F1F5F9"/>
                </a:solidFill>
                <a:latin typeface="Calibri"/>
              </a:rPr>
              <a:t>Students replay the exact timestamp, refine their explanation, and see their exact score improvement.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FBBF24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Cold Transfer Scenario: </a:t>
            </a:r>
            <a:r>
              <a:rPr sz="1250" b="0">
                <a:solidFill>
                  <a:srgbClr val="F1F5F9"/>
                </a:solidFill>
                <a:latin typeface="Calibri"/>
              </a:rPr>
              <a:t>Unlocks full mastery only when the student applies the principle to a brand-new real-world problem cold.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84FC"/>
                </a:solidFill>
                <a:latin typeface="Calibri"/>
              </a:rPr>
              <a:t>HOW IT HELPS:  </a:t>
            </a:r>
            <a:r>
              <a:rPr sz="1300" b="0">
                <a:solidFill>
                  <a:srgbClr val="FFFFFF"/>
                </a:solidFill>
                <a:latin typeface="Calibri"/>
              </a:rPr>
              <a:t>Students spend less time scrubbing through hour-long videos and leave every session with verified, self-constructed understanding.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04 • PRODUCT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ClipGenie Works: Dual Studio &amp; 4-Step Active Recall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Two integrated modes: Smart Topic Clipping for rapid review and the 4-Step Socratic Loop for deep mastery.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2578608" cy="3310128"/>
          </a:xfrm>
          <a:prstGeom prst="roundRect">
            <a:avLst>
              <a:gd name="adj" fmla="val 3000"/>
            </a:avLst>
          </a:prstGeom>
          <a:solidFill>
            <a:srgbClr val="18103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92224"/>
            <a:ext cx="2249424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084FC"/>
                </a:solidFill>
                <a:latin typeface="Calibri"/>
              </a:rPr>
              <a:t>STEP 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Watch Focused Clip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C084FC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Concept Isolation: </a:t>
            </a:r>
            <a:r>
              <a:rPr sz="1200" b="0">
                <a:solidFill>
                  <a:srgbClr val="F1F5F9"/>
                </a:solidFill>
                <a:latin typeface="Calibri"/>
              </a:rPr>
              <a:t>Select any extracted chapter (e.g., 0:36 – 2:01).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C084FC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Auto-Clamped Player: </a:t>
            </a:r>
            <a:r>
              <a:rPr sz="1200" b="0">
                <a:solidFill>
                  <a:srgbClr val="F1F5F9"/>
                </a:solidFill>
                <a:latin typeface="Calibri"/>
              </a:rPr>
              <a:t>Video plays only that concept window and pauses automatically.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C084FC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Multi-Part Segments: </a:t>
            </a:r>
            <a:r>
              <a:rPr sz="1200" b="0">
                <a:solidFill>
                  <a:srgbClr val="F1F5F9"/>
                </a:solidFill>
                <a:latin typeface="Calibri"/>
              </a:rPr>
              <a:t>Jump between Part 1 (theory) and Part 2 (later example).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664208"/>
            <a:ext cx="2578608" cy="3310128"/>
          </a:xfrm>
          <a:prstGeom prst="roundRect">
            <a:avLst>
              <a:gd name="adj" fmla="val 3000"/>
            </a:avLst>
          </a:prstGeom>
          <a:solidFill>
            <a:srgbClr val="0C26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92224"/>
            <a:ext cx="2249424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STEP 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Explain &amp; Diagnose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Grounded Prompt: </a:t>
            </a:r>
            <a:r>
              <a:rPr sz="1200" b="0">
                <a:solidFill>
                  <a:srgbClr val="F1F5F9"/>
                </a:solidFill>
                <a:latin typeface="Calibri"/>
              </a:rPr>
              <a:t>Answer an open-ended question tied 100% to the clip.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Rubric Comparison: </a:t>
            </a:r>
            <a:r>
              <a:rPr sz="1200" b="0">
                <a:solidFill>
                  <a:srgbClr val="F1F5F9"/>
                </a:solidFill>
                <a:latin typeface="Calibri"/>
              </a:rPr>
              <a:t>AI checks your exact words against the segment's key points.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Zero-Spoiler Gaps: </a:t>
            </a:r>
            <a:r>
              <a:rPr sz="1200" b="0">
                <a:solidFill>
                  <a:srgbClr val="F1F5F9"/>
                </a:solidFill>
                <a:latin typeface="Calibri"/>
              </a:rPr>
              <a:t>Shows What You Got Right + What Is Missing + Socratic Hint.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664208"/>
            <a:ext cx="2578608" cy="3310128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792224"/>
            <a:ext cx="2249424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STEP 3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Review &amp; Retry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Targeted Re-Watch: </a:t>
            </a:r>
            <a:r>
              <a:rPr sz="1200" b="0">
                <a:solidFill>
                  <a:srgbClr val="F1F5F9"/>
                </a:solidFill>
                <a:latin typeface="Calibri"/>
              </a:rPr>
              <a:t>Replay the exact video moment using the Socratic hint.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Close the Gap: </a:t>
            </a:r>
            <a:r>
              <a:rPr sz="1200" b="0">
                <a:solidFill>
                  <a:srgbClr val="F1F5F9"/>
                </a:solidFill>
                <a:latin typeface="Calibri"/>
              </a:rPr>
              <a:t>Write an improved explanation incorporating the missing nuance.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+Delta Scoring: </a:t>
            </a:r>
            <a:r>
              <a:rPr sz="1200" b="0">
                <a:solidFill>
                  <a:srgbClr val="F1F5F9"/>
                </a:solidFill>
                <a:latin typeface="Calibri"/>
              </a:rPr>
              <a:t>Measures exact score gain from Attempt 1 to Attempt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664208"/>
            <a:ext cx="2578608" cy="3310128"/>
          </a:xfrm>
          <a:prstGeom prst="roundRect">
            <a:avLst>
              <a:gd name="adj" fmla="val 3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92224"/>
            <a:ext cx="2249424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STEP 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Cold Transfer Check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Unfamiliar Scenario: </a:t>
            </a:r>
            <a:r>
              <a:rPr sz="1200" b="0">
                <a:solidFill>
                  <a:srgbClr val="F1F5F9"/>
                </a:solidFill>
                <a:latin typeface="Calibri"/>
              </a:rPr>
              <a:t>Presents a brand-new real-world problem using the same rule.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No Scaffolding: </a:t>
            </a:r>
            <a:r>
              <a:rPr sz="1200" b="0">
                <a:solidFill>
                  <a:srgbClr val="F1F5F9"/>
                </a:solidFill>
                <a:latin typeface="Calibri"/>
              </a:rPr>
              <a:t>Evaluated cold without hints to verify true comprehension.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Mastery Unlocked: </a:t>
            </a:r>
            <a:r>
              <a:rPr sz="1200" b="0">
                <a:solidFill>
                  <a:srgbClr val="F1F5F9"/>
                </a:solidFill>
                <a:latin typeface="Calibri"/>
              </a:rPr>
              <a:t>Saves independent vs. assisted mastery to user profile.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138928"/>
            <a:ext cx="11000232" cy="685800"/>
          </a:xfrm>
          <a:prstGeom prst="roundRect">
            <a:avLst>
              <a:gd name="adj" fmla="val 8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23036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C084FC"/>
                </a:solidFill>
                <a:latin typeface="Calibri"/>
              </a:rPr>
              <a:t>▸ </a:t>
            </a:r>
            <a:r>
              <a:rPr sz="1300" b="1">
                <a:solidFill>
                  <a:srgbClr val="FFFFFF"/>
                </a:solidFill>
                <a:latin typeface="Calibri"/>
              </a:rPr>
              <a:t>Companion Mode — Smart Video Clipper Studio (/app): </a:t>
            </a:r>
            <a:r>
              <a:rPr sz="1300" b="0">
                <a:solidFill>
                  <a:srgbClr val="F1F5F9"/>
                </a:solidFill>
                <a:latin typeface="Calibri"/>
              </a:rPr>
              <a:t>Upload any lecture or paste a URL, enter a topic keyword, and ClipGenie automatically stitches all relevant spoken sentences into a clean, downloadable highlight video.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END-TO-END FLOW:  </a:t>
            </a:r>
            <a:r>
              <a:rPr sz="1300" b="0">
                <a:solidFill>
                  <a:srgbClr val="FFFFFF"/>
                </a:solidFill>
                <a:latin typeface="Calibri"/>
              </a:rPr>
              <a:t>Import any video link or file  →  Auto-extract chapters &amp; questions  →  Complete the 4-Step Loop  →  Track permanent mastery.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05 • COMPETITIVE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ClipGenie Differs from ChatGPT &amp; Existing Platforms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General-purpose AI tools are built to finish tasks for the user. ClipGenie is built to develop capability in the learner.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64208"/>
          <a:ext cx="11000232" cy="41330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697480"/>
                <a:gridCol w="2880360"/>
                <a:gridCol w="3273552"/>
              </a:tblGrid>
              <a:tr h="688847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C084FC"/>
                          </a:solidFill>
                          <a:latin typeface="Calibri"/>
                        </a:rPr>
                        <a:t>Comparison Dimension</a:t>
                      </a:r>
                    </a:p>
                  </a:txBody>
                  <a:tcPr anchor="ctr">
                    <a:solidFill>
                      <a:srgbClr val="2016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C084FC"/>
                          </a:solidFill>
                          <a:latin typeface="Calibri"/>
                        </a:rPr>
                        <a:t>Video Platforms (YouTube / LMS)</a:t>
                      </a:r>
                    </a:p>
                  </a:txBody>
                  <a:tcPr anchor="ctr">
                    <a:solidFill>
                      <a:srgbClr val="2016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C084FC"/>
                          </a:solidFill>
                          <a:latin typeface="Calibri"/>
                        </a:rPr>
                        <a:t>ChatGPT &amp; AI Summarizers</a:t>
                      </a:r>
                    </a:p>
                  </a:txBody>
                  <a:tcPr anchor="ctr">
                    <a:solidFill>
                      <a:srgbClr val="2016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34D399"/>
                          </a:solidFill>
                          <a:latin typeface="Calibri"/>
                        </a:rPr>
                        <a:t>ClipGenie Studio</a:t>
                      </a:r>
                    </a:p>
                  </a:txBody>
                  <a:tcPr anchor="ctr">
                    <a:solidFill>
                      <a:srgbClr val="0A2E26"/>
                    </a:solidFill>
                  </a:tcPr>
                </a:tc>
              </a:tr>
              <a:tr h="688847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Core Pedagogical Role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Passive video player; one-way broadcast of information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Answer generator; writes summaries &amp; solutions for the user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1F5F9"/>
                          </a:solidFill>
                          <a:latin typeface="Calibri"/>
                        </a:rPr>
                        <a:t>Socratic coach; requires the student to explain &amp; apply concepts</a:t>
                      </a:r>
                    </a:p>
                  </a:txBody>
                  <a:tcPr anchor="ctr">
                    <a:solidFill>
                      <a:srgbClr val="0E342C"/>
                    </a:solidFill>
                  </a:tcPr>
                </a:tc>
              </a:tr>
              <a:tr h="688847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Spoiler &amp; Answer Policy</a:t>
                      </a:r>
                    </a:p>
                  </a:txBody>
                  <a:tcPr anchor="ctr">
                    <a:solidFill>
                      <a:srgbClr val="120C2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N/A (no interactive evaluation)</a:t>
                      </a:r>
                    </a:p>
                  </a:txBody>
                  <a:tcPr anchor="ctr">
                    <a:solidFill>
                      <a:srgbClr val="120C2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Hands over the full answer immediately whenever asked</a:t>
                      </a:r>
                    </a:p>
                  </a:txBody>
                  <a:tcPr anchor="ctr">
                    <a:solidFill>
                      <a:srgbClr val="120C2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1F5F9"/>
                          </a:solidFill>
                          <a:latin typeface="Calibri"/>
                        </a:rPr>
                        <a:t>Strict non-spoiler guardrail: diagnoses gaps without leaking answers</a:t>
                      </a:r>
                    </a:p>
                  </a:txBody>
                  <a:tcPr anchor="ctr">
                    <a:solidFill>
                      <a:srgbClr val="0E342C"/>
                    </a:solidFill>
                  </a:tcPr>
                </a:tc>
              </a:tr>
              <a:tr h="688847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Effect on Metacognition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High illusion of competence ('Watching felt easy')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Encourages cognitive offloading &amp; prompt dependency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1F5F9"/>
                          </a:solidFill>
                          <a:latin typeface="Calibri"/>
                        </a:rPr>
                        <a:t>Restores self-monitoring, active recall, and error correction</a:t>
                      </a:r>
                    </a:p>
                  </a:txBody>
                  <a:tcPr anchor="ctr">
                    <a:solidFill>
                      <a:srgbClr val="0E342C"/>
                    </a:solidFill>
                  </a:tcPr>
                </a:tc>
              </a:tr>
              <a:tr h="688847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Video Context Grounding</a:t>
                      </a:r>
                    </a:p>
                  </a:txBody>
                  <a:tcPr anchor="ctr">
                    <a:solidFill>
                      <a:srgbClr val="120C2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Unstructured full-length timeline; manual scrubbing</a:t>
                      </a:r>
                    </a:p>
                  </a:txBody>
                  <a:tcPr anchor="ctr">
                    <a:solidFill>
                      <a:srgbClr val="120C2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Detached text wall or generic pre-trained knowledge</a:t>
                      </a:r>
                    </a:p>
                  </a:txBody>
                  <a:tcPr anchor="ctr">
                    <a:solidFill>
                      <a:srgbClr val="120C2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1F5F9"/>
                          </a:solidFill>
                          <a:latin typeface="Calibri"/>
                        </a:rPr>
                        <a:t>Locked to exact spoken timestamps &amp; multi-part video callbacks</a:t>
                      </a:r>
                    </a:p>
                  </a:txBody>
                  <a:tcPr anchor="ctr">
                    <a:solidFill>
                      <a:srgbClr val="0E342C"/>
                    </a:solidFill>
                  </a:tcPr>
                </a:tc>
              </a:tr>
              <a:tr h="68885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Verification of Mastery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Simple 'video completed' checkmark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CBD5E1"/>
                          </a:solidFill>
                          <a:latin typeface="Calibri"/>
                        </a:rPr>
                        <a:t>None—copying an AI summary requires zero comprehension</a:t>
                      </a:r>
                    </a:p>
                  </a:txBody>
                  <a:tcPr anchor="ctr">
                    <a:solidFill>
                      <a:srgbClr val="18103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1F5F9"/>
                          </a:solidFill>
                          <a:latin typeface="Calibri"/>
                        </a:rPr>
                        <a:t>Tracks Attempt 1 → Attempt 2 (+Delta) &amp; Cold Transfer Check</a:t>
                      </a:r>
                    </a:p>
                  </a:txBody>
                  <a:tcPr anchor="ctr">
                    <a:solidFill>
                      <a:srgbClr val="0E342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WHY THIS MATTERS:  </a:t>
            </a:r>
            <a:r>
              <a:rPr sz="1300" b="0">
                <a:solidFill>
                  <a:srgbClr val="FFFFFF"/>
                </a:solidFill>
                <a:latin typeface="Calibri"/>
              </a:rPr>
              <a:t>ChatGPT optimizes for task speed (finishing homework fast); ClipGenie optimizes for human retention (performing when AI is removed).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06 • TECHNICAL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ClipGenie Works Under the Hood (High-Level Pipeline)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A modular 4-stage processing pipeline with a hybrid cloud + local fallback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2578608" cy="2880360"/>
          </a:xfrm>
          <a:prstGeom prst="roundRect">
            <a:avLst>
              <a:gd name="adj" fmla="val 3000"/>
            </a:avLst>
          </a:prstGeom>
          <a:solidFill>
            <a:srgbClr val="18103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73936"/>
            <a:ext cx="22494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084FC"/>
                </a:solidFill>
                <a:latin typeface="Calibri"/>
              </a:rPr>
              <a:t>STAGE 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Media &amp; Audio Ingestion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C084FC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Multi-Source Input: </a:t>
            </a:r>
            <a:r>
              <a:rPr sz="1150" b="0">
                <a:solidFill>
                  <a:srgbClr val="F1F5F9"/>
                </a:solidFill>
                <a:latin typeface="Calibri"/>
              </a:rPr>
              <a:t>Accepts uploaded video files or web video URLs.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C084FC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Audio Normalization: </a:t>
            </a:r>
            <a:r>
              <a:rPr sz="1150" b="0">
                <a:solidFill>
                  <a:srgbClr val="F1F5F9"/>
                </a:solidFill>
                <a:latin typeface="Calibri"/>
              </a:rPr>
              <a:t>Extracts a compact mono audio stream for rapid processing.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C084FC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Frame-Ready Storage: </a:t>
            </a:r>
            <a:r>
              <a:rPr sz="1150" b="0">
                <a:solidFill>
                  <a:srgbClr val="F1F5F9"/>
                </a:solidFill>
                <a:latin typeface="Calibri"/>
              </a:rPr>
              <a:t>Caches media streams for instant chapter seeking.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664208"/>
            <a:ext cx="2578608" cy="2880360"/>
          </a:xfrm>
          <a:prstGeom prst="roundRect">
            <a:avLst>
              <a:gd name="adj" fmla="val 3000"/>
            </a:avLst>
          </a:prstGeom>
          <a:solidFill>
            <a:srgbClr val="0C26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73936"/>
            <a:ext cx="22494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STAGE 02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Speech &amp; Sentence Engine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Time-Aligned Transcription: </a:t>
            </a:r>
            <a:r>
              <a:rPr sz="1150" b="0">
                <a:solidFill>
                  <a:srgbClr val="F1F5F9"/>
                </a:solidFill>
                <a:latin typeface="Calibri"/>
              </a:rPr>
              <a:t>Converts spoken audio into timestamped text segments.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Sentence Reconstruction: </a:t>
            </a:r>
            <a:r>
              <a:rPr sz="1150" b="0">
                <a:solidFill>
                  <a:srgbClr val="F1F5F9"/>
                </a:solidFill>
                <a:latin typeface="Calibri"/>
              </a:rPr>
              <a:t>Merges raw phrase fragments into complete sentences.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Pause &amp; Punctuation Logic: </a:t>
            </a:r>
            <a:r>
              <a:rPr sz="1150" b="0">
                <a:solidFill>
                  <a:srgbClr val="F1F5F9"/>
                </a:solidFill>
                <a:latin typeface="Calibri"/>
              </a:rPr>
              <a:t>Prevents awkward mid-sentence video cuts.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664208"/>
            <a:ext cx="2578608" cy="2880360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773936"/>
            <a:ext cx="22494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BBF24"/>
                </a:solidFill>
                <a:latin typeface="Calibri"/>
              </a:rPr>
              <a:t>STAGE 03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Curriculum Segmentation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FBBF24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Concept Chaptering: </a:t>
            </a:r>
            <a:r>
              <a:rPr sz="1150" b="0">
                <a:solidFill>
                  <a:srgbClr val="F1F5F9"/>
                </a:solidFill>
                <a:latin typeface="Calibri"/>
              </a:rPr>
              <a:t>Extracts 4–5 core conceptual pillars from the transcript.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FBBF24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Multi-Occurrence Mapping: </a:t>
            </a:r>
            <a:r>
              <a:rPr sz="1150" b="0">
                <a:solidFill>
                  <a:srgbClr val="F1F5F9"/>
                </a:solidFill>
                <a:latin typeface="Calibri"/>
              </a:rPr>
              <a:t>Links early theory with later callbacks in the talk.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FBBF24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Rubric Generation: </a:t>
            </a:r>
            <a:r>
              <a:rPr sz="1150" b="0">
                <a:solidFill>
                  <a:srgbClr val="F1F5F9"/>
                </a:solidFill>
                <a:latin typeface="Calibri"/>
              </a:rPr>
              <a:t>Builds grounded questions, key points, and transfer tasks.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664208"/>
            <a:ext cx="2578608" cy="2880360"/>
          </a:xfrm>
          <a:prstGeom prst="roundRect">
            <a:avLst>
              <a:gd name="adj" fmla="val 3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73936"/>
            <a:ext cx="22494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4D399"/>
                </a:solidFill>
                <a:latin typeface="Calibri"/>
              </a:rPr>
              <a:t>STAGE 04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Socratic Evaluator &amp; Guard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34D399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Rubric-Based Grading: </a:t>
            </a:r>
            <a:r>
              <a:rPr sz="1150" b="0">
                <a:solidFill>
                  <a:srgbClr val="F1F5F9"/>
                </a:solidFill>
                <a:latin typeface="Calibri"/>
              </a:rPr>
              <a:t>Compares student's actual words against segment key points.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34D399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Anti-Spoiler Filter: </a:t>
            </a:r>
            <a:r>
              <a:rPr sz="1150" b="0">
                <a:solidFill>
                  <a:srgbClr val="F1F5F9"/>
                </a:solidFill>
                <a:latin typeface="Calibri"/>
              </a:rPr>
              <a:t>Blocks direct-answer requests and prevents answer leaks.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34D399"/>
                </a:solidFill>
                <a:latin typeface="Calibri"/>
              </a:rPr>
              <a:t>▸ </a:t>
            </a:r>
            <a:r>
              <a:rPr sz="1150" b="1">
                <a:solidFill>
                  <a:srgbClr val="FFFFFF"/>
                </a:solidFill>
                <a:latin typeface="Calibri"/>
              </a:rPr>
              <a:t>Progress Persistence: </a:t>
            </a:r>
            <a:r>
              <a:rPr sz="1150" b="0">
                <a:solidFill>
                  <a:srgbClr val="F1F5F9"/>
                </a:solidFill>
                <a:latin typeface="Calibri"/>
              </a:rPr>
              <a:t>Stores scores, deltas, and independence rates in database.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09160"/>
            <a:ext cx="5349240" cy="1097280"/>
          </a:xfrm>
          <a:prstGeom prst="roundRect">
            <a:avLst>
              <a:gd name="adj" fmla="val 4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773168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084FC"/>
                </a:solidFill>
                <a:latin typeface="Calibri"/>
              </a:rPr>
              <a:t>FULL-STACK WEB ARCHITECTURE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1F5F9"/>
                </a:solidFill>
                <a:latin typeface="Calibri"/>
              </a:rPr>
              <a:t>Python web backend serving REST JSON APIs &amp; session auth  •  Interactive JS frontend with timestamp-clamped video player  •  Relational database tracking per-concept mastery.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709160"/>
            <a:ext cx="5349240" cy="1097280"/>
          </a:xfrm>
          <a:prstGeom prst="roundRect">
            <a:avLst>
              <a:gd name="adj" fmla="val 4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4773168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HYBRID CLOUD + LOCAL FALLBACK RELIABILITY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1F5F9"/>
                </a:solidFill>
                <a:latin typeface="Calibri"/>
              </a:rPr>
              <a:t>Combines high-speed cloud speech &amp; reasoning models with local speech recognition and vector-embedding similarity fallback so the platform never fails offline.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0C26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Calibri"/>
              </a:rPr>
              <a:t>DESIGN PRINCIPLE:  </a:t>
            </a:r>
            <a:r>
              <a:rPr sz="1300" b="0">
                <a:solidFill>
                  <a:srgbClr val="FFFFFF"/>
                </a:solidFill>
                <a:latin typeface="Calibri"/>
              </a:rPr>
              <a:t>Fast, modular, and resilient—capable of processing any newly uploaded video or link dynamically on the fly.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07 • EVALUATION ACCURACY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ClipGenie Evaluates Real Student Inputs Without Spoilers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Strict rubric verification ensures vague guesses get zero false credit and shortcut requests never leak the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3520440" cy="4096512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92224"/>
            <a:ext cx="311810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CASE 1 • VAGUE 3-WORD GUESS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>
                <a:solidFill>
                  <a:srgbClr val="FFFFFF"/>
                </a:solidFill>
                <a:latin typeface="Calibri"/>
              </a:rPr>
              <a:t>Student Input: "AI is helpful"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Score Assigned: </a:t>
            </a:r>
            <a:r>
              <a:rPr sz="1200" b="0">
                <a:solidFill>
                  <a:srgbClr val="F1F5F9"/>
                </a:solidFill>
                <a:latin typeface="Calibri"/>
              </a:rPr>
              <a:t>10% (Struggling) — does not give false credit for analogies not written.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What You Got Right: </a:t>
            </a:r>
            <a:r>
              <a:rPr sz="1200" b="0">
                <a:solidFill>
                  <a:srgbClr val="F1F5F9"/>
                </a:solidFill>
                <a:latin typeface="Calibri"/>
              </a:rPr>
              <a:t>Acknowledges only that the student noted a general positive use of AI.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What Is Missing (No Spoilers): </a:t>
            </a:r>
            <a:r>
              <a:rPr sz="1200" b="0">
                <a:solidFill>
                  <a:srgbClr val="F1F5F9"/>
                </a:solidFill>
                <a:latin typeface="Calibri"/>
              </a:rPr>
              <a:t>Notes that the speaker's object analogy and dual-use regulation argument were omitted—without naming the 'knife' spoiler.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Socratic Hint: </a:t>
            </a:r>
            <a:r>
              <a:rPr sz="1200" b="0">
                <a:solidFill>
                  <a:srgbClr val="F1F5F9"/>
                </a:solidFill>
                <a:latin typeface="Calibri"/>
              </a:rPr>
              <a:t>"What everyday object does the speaker compare AI to, and how does that shape regulation?"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64208"/>
            <a:ext cx="3520440" cy="4096512"/>
          </a:xfrm>
          <a:prstGeom prst="roundRect">
            <a:avLst>
              <a:gd name="adj" fmla="val 3000"/>
            </a:avLst>
          </a:prstGeom>
          <a:solidFill>
            <a:srgbClr val="380E1E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792224"/>
            <a:ext cx="311810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B7185"/>
                </a:solidFill>
                <a:latin typeface="Calibri"/>
              </a:rPr>
              <a:t>CASE 2 • DIRECT-ANSWER CHEAT ATTEMPT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>
                <a:solidFill>
                  <a:srgbClr val="FFFFFF"/>
                </a:solidFill>
                <a:latin typeface="Calibri"/>
              </a:rPr>
              <a:t>Student Input: "I don't know, just tell me the answer"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7185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Guardrail Triggered: </a:t>
            </a:r>
            <a:r>
              <a:rPr sz="1200" b="0">
                <a:solidFill>
                  <a:srgbClr val="F1F5F9"/>
                </a:solidFill>
                <a:latin typeface="Calibri"/>
              </a:rPr>
              <a:t>Two-layer adversarial filter intercepts the shortcut request immediately.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7185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Score Capped: </a:t>
            </a:r>
            <a:r>
              <a:rPr sz="1200" b="0">
                <a:solidFill>
                  <a:srgbClr val="F1F5F9"/>
                </a:solidFill>
                <a:latin typeface="Calibri"/>
              </a:rPr>
              <a:t>10% — blocks the AI from generating a sample solution.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7185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What Is Missing: </a:t>
            </a:r>
            <a:r>
              <a:rPr sz="1200" b="0">
                <a:solidFill>
                  <a:srgbClr val="F1F5F9"/>
                </a:solidFill>
                <a:latin typeface="Calibri"/>
              </a:rPr>
              <a:t>Flags that the learner requested the direct answer instead of recalling the clip.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FB7185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Socratic Redirect: </a:t>
            </a:r>
            <a:r>
              <a:rPr sz="1200" b="0">
                <a:solidFill>
                  <a:srgbClr val="F1F5F9"/>
                </a:solidFill>
                <a:latin typeface="Calibri"/>
              </a:rPr>
              <a:t>Sends the student back to replay the 45-second video segment and explain in their own words.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64208"/>
            <a:ext cx="3520440" cy="4096512"/>
          </a:xfrm>
          <a:prstGeom prst="roundRect">
            <a:avLst>
              <a:gd name="adj" fmla="val 3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92224"/>
            <a:ext cx="311810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CASE 3 • GENUINE CONCEPTUAL EXPLANATION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>
                <a:solidFill>
                  <a:srgbClr val="FFFFFF"/>
                </a:solidFill>
                <a:latin typeface="Calibri"/>
              </a:rPr>
              <a:t>Student Explains the Core Analogy &amp; Principle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Score Assigned: </a:t>
            </a:r>
            <a:r>
              <a:rPr sz="1200" b="0">
                <a:solidFill>
                  <a:srgbClr val="F1F5F9"/>
                </a:solidFill>
                <a:latin typeface="Calibri"/>
              </a:rPr>
              <a:t>92% (Mastered) — verified against the segment's key points rubric.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What You Got Right: </a:t>
            </a:r>
            <a:r>
              <a:rPr sz="1200" b="0">
                <a:solidFill>
                  <a:srgbClr val="F1F5F9"/>
                </a:solidFill>
                <a:latin typeface="Calibri"/>
              </a:rPr>
              <a:t>Credits the specific dual-use analogy, constructive vs. harmful uses, and regulation focus.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Context Verifier: </a:t>
            </a:r>
            <a:r>
              <a:rPr sz="1200" b="0">
                <a:solidFill>
                  <a:srgbClr val="F1F5F9"/>
                </a:solidFill>
                <a:latin typeface="Calibri"/>
              </a:rPr>
              <a:t>Confirms 100% alignment with the speaker's verbatim transcript.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▸ </a:t>
            </a:r>
            <a:r>
              <a:rPr sz="1200" b="1">
                <a:solidFill>
                  <a:srgbClr val="FFFFFF"/>
                </a:solidFill>
                <a:latin typeface="Calibri"/>
              </a:rPr>
              <a:t>Unlocks Step 4: </a:t>
            </a:r>
            <a:r>
              <a:rPr sz="1200" b="0">
                <a:solidFill>
                  <a:srgbClr val="F1F5F9"/>
                </a:solidFill>
                <a:latin typeface="Calibri"/>
              </a:rPr>
              <a:t>Advances the student to the unscaffolded Cold Transfer Check.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METRIC TRACKED:  </a:t>
            </a:r>
            <a:r>
              <a:rPr sz="1300" b="0">
                <a:solidFill>
                  <a:srgbClr val="FFFFFF"/>
                </a:solidFill>
                <a:latin typeface="Calibri"/>
              </a:rPr>
              <a:t>Solved Without Hints (First-Attempt Independence Rate) separates unassisted mastery from hint-assisted retry mastery.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08 •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Future Roadmap: Scaling Active Video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Expanding ClipGenie from an individual study studio into a complete active-learning ecosystem for classrooms and institutions.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18103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" y="1792224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PHASE 1 • VOICE-TO-VOICE VIVA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Spoken Socratic Practice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C084FC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Hands-Free Feynman Loop: </a:t>
            </a:r>
            <a:r>
              <a:rPr sz="1250" b="0">
                <a:solidFill>
                  <a:srgbClr val="F1F5F9"/>
                </a:solidFill>
                <a:latin typeface="Calibri"/>
              </a:rPr>
              <a:t>Students explain the concept out loud via microphone right when the video pauses.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C084FC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Oral Exam Simulation: </a:t>
            </a:r>
            <a:r>
              <a:rPr sz="1250" b="0">
                <a:solidFill>
                  <a:srgbClr val="F1F5F9"/>
                </a:solidFill>
                <a:latin typeface="Calibri"/>
              </a:rPr>
              <a:t>Prepares learners for technical interviews, viva voce exams, and classroom discussions.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664208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0C26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792224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Calibri"/>
              </a:rPr>
              <a:t>PHASE 2 • SPACED REPETITION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Automated 1-3-7 Day Video Reviews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Targeted Micro-Reviews: </a:t>
            </a:r>
            <a:r>
              <a:rPr sz="1250" b="0">
                <a:solidFill>
                  <a:srgbClr val="F1F5F9"/>
                </a:solidFill>
                <a:latin typeface="Calibri"/>
              </a:rPr>
              <a:t>Schedules 60-second review clips at 1, 3, and 7 days based on chapters where the student struggled.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Flattens Forgetting Curve: </a:t>
            </a:r>
            <a:r>
              <a:rPr sz="1250" b="0">
                <a:solidFill>
                  <a:srgbClr val="F1F5F9"/>
                </a:solidFill>
                <a:latin typeface="Calibri"/>
              </a:rPr>
              <a:t>Turns one-time lecture watching into permanent long-term memory across a semester.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822191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950207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PHASE 3 • INSTRUCTOR ANALYTICS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Classroom Confusion Heatmaps &amp; LMS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FBBF24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Timestamp Heatmaps: </a:t>
            </a:r>
            <a:r>
              <a:rPr sz="1250" b="0">
                <a:solidFill>
                  <a:srgbClr val="F1F5F9"/>
                </a:solidFill>
                <a:latin typeface="Calibri"/>
              </a:rPr>
              <a:t>Shows teachers which exact 45-second segment of a lecture caused the most student misconceptions.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FBBF24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Direct LMS Integration: </a:t>
            </a:r>
            <a:r>
              <a:rPr sz="1250" b="0">
                <a:solidFill>
                  <a:srgbClr val="F1F5F9"/>
                </a:solidFill>
                <a:latin typeface="Calibri"/>
              </a:rPr>
              <a:t>Plug-and-play embeds for Canvas, Moodle, and Google Classroom assignments.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822191"/>
            <a:ext cx="5349240" cy="1993392"/>
          </a:xfrm>
          <a:prstGeom prst="roundRect">
            <a:avLst>
              <a:gd name="adj" fmla="val 3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3950207"/>
            <a:ext cx="491947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PHASE 4 • MULTILINGUAL &amp; EDGE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Cross-Lingual &amp; Offline Campus Mode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Learn in Your Language: </a:t>
            </a:r>
            <a:r>
              <a:rPr sz="1250" b="0">
                <a:solidFill>
                  <a:srgbClr val="F1F5F9"/>
                </a:solidFill>
                <a:latin typeface="Calibri"/>
              </a:rPr>
              <a:t>Watch an English technical lecture and explain the concept in Urdu or regional languages.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Low-Bandwidth School Server: </a:t>
            </a:r>
            <a:r>
              <a:rPr sz="1250" b="0">
                <a:solidFill>
                  <a:srgbClr val="F1F5F9"/>
                </a:solidFill>
                <a:latin typeface="Calibri"/>
              </a:rPr>
              <a:t>Run lightweight speech and evaluation models on local campus hardware without internet.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84FC"/>
                </a:solidFill>
                <a:latin typeface="Calibri"/>
              </a:rPr>
              <a:t>VISION:  </a:t>
            </a:r>
            <a:r>
              <a:rPr sz="1300" b="0">
                <a:solidFill>
                  <a:srgbClr val="FFFFFF"/>
                </a:solidFill>
                <a:latin typeface="Calibri"/>
              </a:rPr>
              <a:t>Make every educational video on the internet interactive, diagnostic, and accountable for real human learning.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92608"/>
            <a:ext cx="2560320" cy="310896"/>
          </a:xfrm>
          <a:prstGeom prst="roundRect">
            <a:avLst>
              <a:gd name="adj" fmla="val 40000"/>
            </a:avLst>
          </a:prstGeom>
          <a:solidFill>
            <a:srgbClr val="20164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09 • 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92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BD5E1"/>
                </a:solidFill>
                <a:latin typeface="Calibri"/>
              </a:rPr>
              <a:t>ClipGenie  |  Slide 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Live Demo Walkthrough &amp; 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5214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BD5E1"/>
                </a:solidFill>
                <a:latin typeface="Calibri"/>
              </a:rPr>
              <a:t>What we will demonstrate live in the application right now.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64208"/>
            <a:ext cx="3520440" cy="4096512"/>
          </a:xfrm>
          <a:prstGeom prst="roundRect">
            <a:avLst>
              <a:gd name="adj" fmla="val 3000"/>
            </a:avLst>
          </a:prstGeom>
          <a:solidFill>
            <a:srgbClr val="181034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92224"/>
            <a:ext cx="311810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DEMO 01 • DYNAMIC LECTURE IMPORT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Import Any Video or Switch Lectures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Multi-Lecture Library: </a:t>
            </a:r>
            <a:r>
              <a:rPr sz="1250" b="0">
                <a:solidFill>
                  <a:srgbClr val="F1F5F9"/>
                </a:solidFill>
                <a:latin typeface="Calibri"/>
              </a:rPr>
              <a:t>Switch between different imported lectures or paste a new video URL.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Dynamic Concept Map: </a:t>
            </a:r>
            <a:r>
              <a:rPr sz="1250" b="0">
                <a:solidFill>
                  <a:srgbClr val="F1F5F9"/>
                </a:solidFill>
                <a:latin typeface="Calibri"/>
              </a:rPr>
              <a:t>Show how chapters, timestamps, and retrieval questions adapt to the active video.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C084FC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Clamped Video Playback: </a:t>
            </a:r>
            <a:r>
              <a:rPr sz="1250" b="0">
                <a:solidFill>
                  <a:srgbClr val="F1F5F9"/>
                </a:solidFill>
                <a:latin typeface="Calibri"/>
              </a:rPr>
              <a:t>Play a focused concept clip and see the player auto-pause at the chapter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64208"/>
            <a:ext cx="3520440" cy="4096512"/>
          </a:xfrm>
          <a:prstGeom prst="roundRect">
            <a:avLst>
              <a:gd name="adj" fmla="val 3000"/>
            </a:avLst>
          </a:prstGeom>
          <a:solidFill>
            <a:srgbClr val="3620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792224"/>
            <a:ext cx="311810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DEMO 02 • GAP DIAGNOSIS &amp; GUARDRAIL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Test Vague Guesses &amp; Shortcut Attempts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FBBF24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Vague Input Test: </a:t>
            </a:r>
            <a:r>
              <a:rPr sz="1250" b="0">
                <a:solidFill>
                  <a:srgbClr val="F1F5F9"/>
                </a:solidFill>
                <a:latin typeface="Calibri"/>
              </a:rPr>
              <a:t>Type a short guess like 'AI is helpful' and see accurate, non-spoiler gap diagnosis.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FBBF24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Anti-Cheat Test: </a:t>
            </a:r>
            <a:r>
              <a:rPr sz="1250" b="0">
                <a:solidFill>
                  <a:srgbClr val="F1F5F9"/>
                </a:solidFill>
                <a:latin typeface="Calibri"/>
              </a:rPr>
              <a:t>Trigger the shortcut guardrail ('Tell me the answer') and verify 0% answer leakage.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FBBF24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Partial Answer Test: </a:t>
            </a:r>
            <a:r>
              <a:rPr sz="1250" b="0">
                <a:solidFill>
                  <a:srgbClr val="F1F5F9"/>
                </a:solidFill>
                <a:latin typeface="Calibri"/>
              </a:rPr>
              <a:t>Submit a 60% explanation to trigger Step 3 Retry with a Socratic hint.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64208"/>
            <a:ext cx="3520440" cy="4096512"/>
          </a:xfrm>
          <a:prstGeom prst="roundRect">
            <a:avLst>
              <a:gd name="adj" fmla="val 3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92224"/>
            <a:ext cx="311810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DEMO 03 • RETRY &amp; COLD TRANSFER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1">
                <a:solidFill>
                  <a:srgbClr val="FFFFFF"/>
                </a:solidFill>
                <a:latin typeface="Calibri"/>
              </a:rPr>
              <a:t>Close the Gap &amp; Prove Mastery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Step 3 Retry (+Delta): </a:t>
            </a:r>
            <a:r>
              <a:rPr sz="1250" b="0">
                <a:solidFill>
                  <a:srgbClr val="F1F5F9"/>
                </a:solidFill>
                <a:latin typeface="Calibri"/>
              </a:rPr>
              <a:t>Submit an improved explanation and watch the score jump from 60% to 92%.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Step 4 Transfer Check: </a:t>
            </a:r>
            <a:r>
              <a:rPr sz="1250" b="0">
                <a:solidFill>
                  <a:srgbClr val="F1F5F9"/>
                </a:solidFill>
                <a:latin typeface="Calibri"/>
              </a:rPr>
              <a:t>Solve the unscaffolded real-world transfer scenario to unlock full mastery.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▸ </a:t>
            </a:r>
            <a:r>
              <a:rPr sz="1250" b="1">
                <a:solidFill>
                  <a:srgbClr val="FFFFFF"/>
                </a:solidFill>
                <a:latin typeface="Calibri"/>
              </a:rPr>
              <a:t>Smart Video Clipper (/app): </a:t>
            </a:r>
            <a:r>
              <a:rPr sz="1250" b="0">
                <a:solidFill>
                  <a:srgbClr val="F1F5F9"/>
                </a:solidFill>
                <a:latin typeface="Calibri"/>
              </a:rPr>
              <a:t>Generate a custom topic highlight reel from any lecture.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961888"/>
            <a:ext cx="11000232" cy="621792"/>
          </a:xfrm>
          <a:prstGeom prst="roundRect">
            <a:avLst>
              <a:gd name="adj" fmla="val 15000"/>
            </a:avLst>
          </a:prstGeom>
          <a:solidFill>
            <a:srgbClr val="0A2E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53328"/>
            <a:ext cx="10607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CLOSING TAKEAWAY:  </a:t>
            </a:r>
            <a:r>
              <a:rPr sz="1300" b="0">
                <a:solidFill>
                  <a:srgbClr val="FFFFFF"/>
                </a:solidFill>
                <a:latin typeface="Calibri"/>
              </a:rPr>
              <a:t>"If you can explain it from memory, fix your blind spots, and apply it to a new problem—you truly know it."   |   Thank You &amp;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